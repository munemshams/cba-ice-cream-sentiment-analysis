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9"/>
  </p:notesMasterIdLst>
  <p:sldIdLst>
    <p:sldId id="256" r:id="rId2"/>
    <p:sldId id="257" r:id="rId3"/>
    <p:sldId id="259" r:id="rId4"/>
    <p:sldId id="269" r:id="rId5"/>
    <p:sldId id="265" r:id="rId6"/>
    <p:sldId id="270" r:id="rId7"/>
    <p:sldId id="26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826"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BDB888-E996-49CA-B708-846B8044163E}"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F66F75-66D2-4907-8D1F-0AE1AF317CCE}" type="slidenum">
              <a:rPr lang="en-US" smtClean="0"/>
              <a:t>‹#›</a:t>
            </a:fld>
            <a:endParaRPr lang="en-US"/>
          </a:p>
        </p:txBody>
      </p:sp>
    </p:spTree>
    <p:extLst>
      <p:ext uri="{BB962C8B-B14F-4D97-AF65-F5344CB8AC3E}">
        <p14:creationId xmlns:p14="http://schemas.microsoft.com/office/powerpoint/2010/main" val="4091357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My name is </a:t>
            </a:r>
            <a:r>
              <a:rPr lang="en-US" dirty="0" err="1"/>
              <a:t>Munem</a:t>
            </a:r>
            <a:r>
              <a:rPr lang="en-US" dirty="0"/>
              <a:t> </a:t>
            </a:r>
            <a:r>
              <a:rPr lang="en-US" dirty="0" err="1"/>
              <a:t>Shariar</a:t>
            </a:r>
            <a:r>
              <a:rPr lang="en-US"/>
              <a:t> Shams </a:t>
            </a:r>
            <a:r>
              <a:rPr lang="en-US" dirty="0"/>
              <a:t>and today I’ll be presenting you with my analysis of the customer feedback data that the company provided me with and strategic recommendations based on the insights we get from the analysis of that data.</a:t>
            </a:r>
          </a:p>
        </p:txBody>
      </p:sp>
      <p:sp>
        <p:nvSpPr>
          <p:cNvPr id="4" name="Slide Number Placeholder 3"/>
          <p:cNvSpPr>
            <a:spLocks noGrp="1"/>
          </p:cNvSpPr>
          <p:nvPr>
            <p:ph type="sldNum" sz="quarter" idx="5"/>
          </p:nvPr>
        </p:nvSpPr>
        <p:spPr/>
        <p:txBody>
          <a:bodyPr/>
          <a:lstStyle/>
          <a:p>
            <a:fld id="{03F66F75-66D2-4907-8D1F-0AE1AF317CCE}" type="slidenum">
              <a:rPr lang="en-US" smtClean="0"/>
              <a:t>1</a:t>
            </a:fld>
            <a:endParaRPr lang="en-US"/>
          </a:p>
        </p:txBody>
      </p:sp>
    </p:spTree>
    <p:extLst>
      <p:ext uri="{BB962C8B-B14F-4D97-AF65-F5344CB8AC3E}">
        <p14:creationId xmlns:p14="http://schemas.microsoft.com/office/powerpoint/2010/main" val="4178970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off with a brief overview of the project, What we did with this project is we </a:t>
            </a:r>
            <a:r>
              <a:rPr lang="en-US" dirty="0" err="1"/>
              <a:t>analysed</a:t>
            </a:r>
            <a:r>
              <a:rPr lang="en-US" dirty="0"/>
              <a:t> the customer comment and sales data to understand which products are doing well, which products are not doing so well. We also conducted sentiment analysis of the data, we assessed the operational performance of different parlor sites and production sites. So what all this does is that it gives us an understanding of what drives customer satisfaction. If we can identify which products are working well and which aren’t and we can identify our operational strengths then we can make more data- driven decisions and optimize our product portfolio. We can also leverage this data for marketing.</a:t>
            </a:r>
          </a:p>
        </p:txBody>
      </p:sp>
      <p:sp>
        <p:nvSpPr>
          <p:cNvPr id="4" name="Slide Number Placeholder 3"/>
          <p:cNvSpPr>
            <a:spLocks noGrp="1"/>
          </p:cNvSpPr>
          <p:nvPr>
            <p:ph type="sldNum" sz="quarter" idx="5"/>
          </p:nvPr>
        </p:nvSpPr>
        <p:spPr/>
        <p:txBody>
          <a:bodyPr/>
          <a:lstStyle/>
          <a:p>
            <a:fld id="{03F66F75-66D2-4907-8D1F-0AE1AF317CCE}" type="slidenum">
              <a:rPr lang="en-US" smtClean="0"/>
              <a:t>2</a:t>
            </a:fld>
            <a:endParaRPr lang="en-US"/>
          </a:p>
        </p:txBody>
      </p:sp>
    </p:spTree>
    <p:extLst>
      <p:ext uri="{BB962C8B-B14F-4D97-AF65-F5344CB8AC3E}">
        <p14:creationId xmlns:p14="http://schemas.microsoft.com/office/powerpoint/2010/main" val="1076585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Firstly, when we analyzed the sales data we noticed that more than 50% of the total sales are comprised of the feature flavors. So these feature flavors which are unique and only we produce them in the market should be our strongest focus point. We should leverage the absence of any competitors and use this as a driving force in our marketing and our production.</a:t>
            </a:r>
          </a:p>
        </p:txBody>
      </p:sp>
      <p:sp>
        <p:nvSpPr>
          <p:cNvPr id="4" name="Slide Number Placeholder 3"/>
          <p:cNvSpPr>
            <a:spLocks noGrp="1"/>
          </p:cNvSpPr>
          <p:nvPr>
            <p:ph type="sldNum" sz="quarter" idx="5"/>
          </p:nvPr>
        </p:nvSpPr>
        <p:spPr/>
        <p:txBody>
          <a:bodyPr/>
          <a:lstStyle/>
          <a:p>
            <a:fld id="{03F66F75-66D2-4907-8D1F-0AE1AF317CCE}" type="slidenum">
              <a:rPr lang="en-US" smtClean="0"/>
              <a:t>3</a:t>
            </a:fld>
            <a:endParaRPr lang="en-US"/>
          </a:p>
        </p:txBody>
      </p:sp>
    </p:spTree>
    <p:extLst>
      <p:ext uri="{BB962C8B-B14F-4D97-AF65-F5344CB8AC3E}">
        <p14:creationId xmlns:p14="http://schemas.microsoft.com/office/powerpoint/2010/main" val="509116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our feature flavors, this chart shows us that all the flavors have great sentiment scores and the customers love them all. There is only one concern in this section which is the Cherry Pie Chunk flavor. It’s the only flavor with a negative sentiment score. I will talking about that in a quick minute.</a:t>
            </a:r>
          </a:p>
        </p:txBody>
      </p:sp>
      <p:sp>
        <p:nvSpPr>
          <p:cNvPr id="4" name="Slide Number Placeholder 3"/>
          <p:cNvSpPr>
            <a:spLocks noGrp="1"/>
          </p:cNvSpPr>
          <p:nvPr>
            <p:ph type="sldNum" sz="quarter" idx="5"/>
          </p:nvPr>
        </p:nvSpPr>
        <p:spPr/>
        <p:txBody>
          <a:bodyPr/>
          <a:lstStyle/>
          <a:p>
            <a:fld id="{03F66F75-66D2-4907-8D1F-0AE1AF317CCE}" type="slidenum">
              <a:rPr lang="en-US" smtClean="0"/>
              <a:t>4</a:t>
            </a:fld>
            <a:endParaRPr lang="en-US"/>
          </a:p>
        </p:txBody>
      </p:sp>
    </p:spTree>
    <p:extLst>
      <p:ext uri="{BB962C8B-B14F-4D97-AF65-F5344CB8AC3E}">
        <p14:creationId xmlns:p14="http://schemas.microsoft.com/office/powerpoint/2010/main" val="1561447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quick look at the production and parlor sites. Obviously, Traverse city being one of the most attractive tourist location in the state has the highest number of comments. Mount Pleasant is our production site which consistently showed us proven capability to handle the highest volume while maintaining the best quality as well.</a:t>
            </a:r>
          </a:p>
        </p:txBody>
      </p:sp>
      <p:sp>
        <p:nvSpPr>
          <p:cNvPr id="4" name="Slide Number Placeholder 3"/>
          <p:cNvSpPr>
            <a:spLocks noGrp="1"/>
          </p:cNvSpPr>
          <p:nvPr>
            <p:ph type="sldNum" sz="quarter" idx="5"/>
          </p:nvPr>
        </p:nvSpPr>
        <p:spPr/>
        <p:txBody>
          <a:bodyPr/>
          <a:lstStyle/>
          <a:p>
            <a:fld id="{03F66F75-66D2-4907-8D1F-0AE1AF317CCE}" type="slidenum">
              <a:rPr lang="en-US" smtClean="0"/>
              <a:t>5</a:t>
            </a:fld>
            <a:endParaRPr lang="en-US"/>
          </a:p>
        </p:txBody>
      </p:sp>
    </p:spTree>
    <p:extLst>
      <p:ext uri="{BB962C8B-B14F-4D97-AF65-F5344CB8AC3E}">
        <p14:creationId xmlns:p14="http://schemas.microsoft.com/office/powerpoint/2010/main" val="1666170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important part, My concluding recommendations. As I mentioned before, the Cherry Pie chunk flavor should be discontinued. Since it is the only flavor that customers didn’t like I think the best course of action would be to get rid of it and instead focus our production and marketing on the Robust Cherry Surprise flavor. It’s another cherry flavor and it has the highest sentiment score among all the 14 feature flavors. So let’s just get rid of the bad one and double down on the good one. Since we now have insights based on the sentiment analysis and now we know what the customers love the most, we can create combo packs of 3 flavors. We can start  this trend with  one combo pack of the top 3 flavors and then we can move forward based on how it performs. Finally, my last recommendation would be to use all the positive customer feedback and the comments for marketing in social media platform. We have the data and we can use it for marketing. </a:t>
            </a:r>
          </a:p>
        </p:txBody>
      </p:sp>
      <p:sp>
        <p:nvSpPr>
          <p:cNvPr id="4" name="Slide Number Placeholder 3"/>
          <p:cNvSpPr>
            <a:spLocks noGrp="1"/>
          </p:cNvSpPr>
          <p:nvPr>
            <p:ph type="sldNum" sz="quarter" idx="5"/>
          </p:nvPr>
        </p:nvSpPr>
        <p:spPr/>
        <p:txBody>
          <a:bodyPr/>
          <a:lstStyle/>
          <a:p>
            <a:fld id="{03F66F75-66D2-4907-8D1F-0AE1AF317CCE}" type="slidenum">
              <a:rPr lang="en-US" smtClean="0"/>
              <a:t>6</a:t>
            </a:fld>
            <a:endParaRPr lang="en-US"/>
          </a:p>
        </p:txBody>
      </p:sp>
    </p:spTree>
    <p:extLst>
      <p:ext uri="{BB962C8B-B14F-4D97-AF65-F5344CB8AC3E}">
        <p14:creationId xmlns:p14="http://schemas.microsoft.com/office/powerpoint/2010/main" val="987467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will be all for today but if anyone has any questions please feel free to reach out to me. Thank you!</a:t>
            </a:r>
          </a:p>
        </p:txBody>
      </p:sp>
      <p:sp>
        <p:nvSpPr>
          <p:cNvPr id="4" name="Slide Number Placeholder 3"/>
          <p:cNvSpPr>
            <a:spLocks noGrp="1"/>
          </p:cNvSpPr>
          <p:nvPr>
            <p:ph type="sldNum" sz="quarter" idx="5"/>
          </p:nvPr>
        </p:nvSpPr>
        <p:spPr/>
        <p:txBody>
          <a:bodyPr/>
          <a:lstStyle/>
          <a:p>
            <a:fld id="{03F66F75-66D2-4907-8D1F-0AE1AF317CCE}" type="slidenum">
              <a:rPr lang="en-US" smtClean="0"/>
              <a:t>7</a:t>
            </a:fld>
            <a:endParaRPr lang="en-US"/>
          </a:p>
        </p:txBody>
      </p:sp>
    </p:spTree>
    <p:extLst>
      <p:ext uri="{BB962C8B-B14F-4D97-AF65-F5344CB8AC3E}">
        <p14:creationId xmlns:p14="http://schemas.microsoft.com/office/powerpoint/2010/main" val="476244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01980948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27233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46144194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431070E-09BA-494B-8B6C-67CD9AC4630A}" type="datetimeFigureOut">
              <a:rPr lang="en-US" smtClean="0"/>
              <a:t>2/21/2026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4131020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431070E-09BA-494B-8B6C-67CD9AC4630A}"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F5CD8-F000-40FC-8B31-8CF91FFEA67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60522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31070E-09BA-494B-8B6C-67CD9AC4630A}" type="datetimeFigureOut">
              <a:rPr lang="en-US" smtClean="0"/>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1726483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1070E-09BA-494B-8B6C-67CD9AC4630A}" type="datetimeFigureOut">
              <a:rPr lang="en-US" smtClean="0"/>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115575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431070E-09BA-494B-8B6C-67CD9AC4630A}" type="datetimeFigureOut">
              <a:rPr lang="en-US" smtClean="0"/>
              <a:t>2/21/2026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2568667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431070E-09BA-494B-8B6C-67CD9AC4630A}" type="datetimeFigureOut">
              <a:rPr lang="en-US" smtClean="0"/>
              <a:t>2/21/2026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908107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31070E-09BA-494B-8B6C-67CD9AC4630A}"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395075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31070E-09BA-494B-8B6C-67CD9AC4630A}"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F5CD8-F000-40FC-8B31-8CF91FFEA67D}" type="slidenum">
              <a:rPr lang="en-US" smtClean="0"/>
              <a:t>‹#›</a:t>
            </a:fld>
            <a:endParaRPr lang="en-US"/>
          </a:p>
        </p:txBody>
      </p:sp>
    </p:spTree>
    <p:extLst>
      <p:ext uri="{BB962C8B-B14F-4D97-AF65-F5344CB8AC3E}">
        <p14:creationId xmlns:p14="http://schemas.microsoft.com/office/powerpoint/2010/main" val="4247164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431070E-09BA-494B-8B6C-67CD9AC4630A}" type="datetimeFigureOut">
              <a:rPr lang="en-US" smtClean="0"/>
              <a:t>2/21/2026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0EF5CD8-F000-40FC-8B31-8CF91FFEA67D}" type="slidenum">
              <a:rPr lang="en-US" smtClean="0"/>
              <a:t>‹#›</a:t>
            </a:fld>
            <a:endParaRPr lang="en-US"/>
          </a:p>
        </p:txBody>
      </p:sp>
    </p:spTree>
    <p:extLst>
      <p:ext uri="{BB962C8B-B14F-4D97-AF65-F5344CB8AC3E}">
        <p14:creationId xmlns:p14="http://schemas.microsoft.com/office/powerpoint/2010/main" val="309686063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83F7D-D4DC-A131-422F-BCDF129DBC85}"/>
              </a:ext>
            </a:extLst>
          </p:cNvPr>
          <p:cNvSpPr>
            <a:spLocks noGrp="1"/>
          </p:cNvSpPr>
          <p:nvPr>
            <p:ph type="ctrTitle"/>
          </p:nvPr>
        </p:nvSpPr>
        <p:spPr>
          <a:xfrm>
            <a:off x="1713089" y="1280432"/>
            <a:ext cx="8991600" cy="1645920"/>
          </a:xfrm>
        </p:spPr>
        <p:txBody>
          <a:bodyPr>
            <a:normAutofit fontScale="90000"/>
          </a:bodyPr>
          <a:lstStyle/>
          <a:p>
            <a:r>
              <a:rPr lang="en-US"/>
              <a:t>Sentiment analysis of customer feedback and strategic recommendations</a:t>
            </a:r>
            <a:endParaRPr lang="en-US" dirty="0"/>
          </a:p>
        </p:txBody>
      </p:sp>
      <p:sp>
        <p:nvSpPr>
          <p:cNvPr id="3" name="Subtitle 2">
            <a:extLst>
              <a:ext uri="{FF2B5EF4-FFF2-40B4-BE49-F238E27FC236}">
                <a16:creationId xmlns:a16="http://schemas.microsoft.com/office/drawing/2014/main" id="{CBDAADFD-68BF-6FDF-C547-DD6DC64CC55B}"/>
              </a:ext>
            </a:extLst>
          </p:cNvPr>
          <p:cNvSpPr>
            <a:spLocks noGrp="1"/>
          </p:cNvSpPr>
          <p:nvPr>
            <p:ph type="subTitle" idx="1"/>
          </p:nvPr>
        </p:nvSpPr>
        <p:spPr>
          <a:xfrm>
            <a:off x="2695194" y="3429000"/>
            <a:ext cx="6801612" cy="2104700"/>
          </a:xfrm>
        </p:spPr>
        <p:txBody>
          <a:bodyPr>
            <a:normAutofit/>
          </a:bodyPr>
          <a:lstStyle/>
          <a:p>
            <a:r>
              <a:rPr lang="en-US" dirty="0"/>
              <a:t>Presented by</a:t>
            </a:r>
          </a:p>
          <a:p>
            <a:r>
              <a:rPr lang="en-US" dirty="0"/>
              <a:t>Munem Shariar Shams</a:t>
            </a:r>
          </a:p>
          <a:p>
            <a:r>
              <a:rPr lang="en-US"/>
              <a:t>Date</a:t>
            </a:r>
            <a:r>
              <a:rPr lang="en-US" dirty="0"/>
              <a:t>: 11.15.2025</a:t>
            </a:r>
          </a:p>
        </p:txBody>
      </p:sp>
    </p:spTree>
    <p:extLst>
      <p:ext uri="{BB962C8B-B14F-4D97-AF65-F5344CB8AC3E}">
        <p14:creationId xmlns:p14="http://schemas.microsoft.com/office/powerpoint/2010/main" val="2027074236"/>
      </p:ext>
    </p:extLst>
  </p:cSld>
  <p:clrMapOvr>
    <a:masterClrMapping/>
  </p:clrMapOvr>
  <mc:AlternateContent xmlns:mc="http://schemas.openxmlformats.org/markup-compatibility/2006" xmlns:p14="http://schemas.microsoft.com/office/powerpoint/2010/main">
    <mc:Choice Requires="p14">
      <p:transition spd="slow" p14:dur="2000" advTm="14898"/>
    </mc:Choice>
    <mc:Fallback xmlns="">
      <p:transition spd="slow" advTm="1489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45F75-CFB8-0969-9C10-59FBD42B12BB}"/>
              </a:ext>
            </a:extLst>
          </p:cNvPr>
          <p:cNvSpPr>
            <a:spLocks noGrp="1"/>
          </p:cNvSpPr>
          <p:nvPr>
            <p:ph type="title"/>
          </p:nvPr>
        </p:nvSpPr>
        <p:spPr>
          <a:xfrm>
            <a:off x="2231136" y="264781"/>
            <a:ext cx="7729728" cy="1135041"/>
          </a:xfrm>
        </p:spPr>
        <p:txBody>
          <a:bodyPr>
            <a:normAutofit/>
          </a:bodyPr>
          <a:lstStyle/>
          <a:p>
            <a:r>
              <a:rPr lang="en-US" sz="2400" b="1" kern="100" dirty="0">
                <a:effectLst/>
                <a:latin typeface="Aptos" panose="020B0004020202020204" pitchFamily="34" charset="0"/>
                <a:ea typeface="Aptos" panose="020B0004020202020204" pitchFamily="34" charset="0"/>
                <a:cs typeface="Times New Roman" panose="02020603050405020304" pitchFamily="18" charset="0"/>
              </a:rPr>
              <a:t>Project Overview</a:t>
            </a:r>
            <a:endParaRPr lang="en-US" sz="2400" dirty="0"/>
          </a:p>
        </p:txBody>
      </p:sp>
      <p:sp>
        <p:nvSpPr>
          <p:cNvPr id="3" name="Content Placeholder 2">
            <a:extLst>
              <a:ext uri="{FF2B5EF4-FFF2-40B4-BE49-F238E27FC236}">
                <a16:creationId xmlns:a16="http://schemas.microsoft.com/office/drawing/2014/main" id="{3D9C6757-77D7-14CE-42DF-3B1C73C8B749}"/>
              </a:ext>
            </a:extLst>
          </p:cNvPr>
          <p:cNvSpPr>
            <a:spLocks noGrp="1"/>
          </p:cNvSpPr>
          <p:nvPr>
            <p:ph idx="1"/>
          </p:nvPr>
        </p:nvSpPr>
        <p:spPr>
          <a:xfrm>
            <a:off x="587022" y="1723643"/>
            <a:ext cx="10588978" cy="4959961"/>
          </a:xfrm>
        </p:spPr>
        <p:txBody>
          <a:bodyPr>
            <a:normAutofit fontScale="92500" lnSpcReduction="10000"/>
          </a:bodyPr>
          <a:lstStyle/>
          <a:p>
            <a:pPr marL="0" marR="0" indent="0">
              <a:lnSpc>
                <a:spcPct val="107000"/>
              </a:lnSpc>
              <a:spcBef>
                <a:spcPts val="0"/>
              </a:spcBef>
              <a:spcAft>
                <a:spcPts val="800"/>
              </a:spcAft>
              <a:buNone/>
            </a:pPr>
            <a:r>
              <a:rPr lang="en-US" sz="1800" b="1" kern="100" dirty="0">
                <a:effectLst/>
                <a:ea typeface="Aptos" panose="020B0004020202020204" pitchFamily="34" charset="0"/>
                <a:cs typeface="Times New Roman" panose="02020603050405020304" pitchFamily="18" charset="0"/>
              </a:rPr>
              <a:t>What We Did:</a:t>
            </a:r>
            <a:endParaRPr lang="en-US" sz="1800" kern="100" dirty="0">
              <a:effectLst/>
              <a:ea typeface="Aptos" panose="020B0004020202020204" pitchFamily="34" charset="0"/>
              <a:cs typeface="Times New Roman" panose="02020603050405020304" pitchFamily="18" charset="0"/>
            </a:endParaRPr>
          </a:p>
          <a:p>
            <a:pPr algn="l">
              <a:buFont typeface="Arial" panose="020B0604020202020204" pitchFamily="34" charset="0"/>
              <a:buChar char="•"/>
            </a:pPr>
            <a:r>
              <a:rPr lang="en-US" b="0" i="0" dirty="0">
                <a:solidFill>
                  <a:srgbClr val="0F1115"/>
                </a:solidFill>
                <a:effectLst/>
              </a:rPr>
              <a:t>Analyzed customer comments and sales data</a:t>
            </a:r>
          </a:p>
          <a:p>
            <a:pPr algn="l">
              <a:buFont typeface="Arial" panose="020B0604020202020204" pitchFamily="34" charset="0"/>
              <a:buChar char="•"/>
            </a:pPr>
            <a:r>
              <a:rPr lang="en-US" b="0" i="0" dirty="0">
                <a:solidFill>
                  <a:srgbClr val="0F1115"/>
                </a:solidFill>
                <a:effectLst/>
              </a:rPr>
              <a:t>Conducted Sentiment Analysis on the customer feedback data</a:t>
            </a:r>
          </a:p>
          <a:p>
            <a:pPr algn="l">
              <a:buFont typeface="Arial" panose="020B0604020202020204" pitchFamily="34" charset="0"/>
              <a:buChar char="•"/>
            </a:pPr>
            <a:r>
              <a:rPr lang="en-US" b="0" i="0" dirty="0">
                <a:solidFill>
                  <a:srgbClr val="0F1115"/>
                </a:solidFill>
                <a:effectLst/>
              </a:rPr>
              <a:t>Evaluated 14 feature flavors across sales performance and customer satisfaction</a:t>
            </a:r>
          </a:p>
          <a:p>
            <a:pPr algn="l">
              <a:buFont typeface="Arial" panose="020B0604020202020204" pitchFamily="34" charset="0"/>
              <a:buChar char="•"/>
            </a:pPr>
            <a:r>
              <a:rPr lang="en-US" b="0" i="0" dirty="0">
                <a:solidFill>
                  <a:srgbClr val="0F1115"/>
                </a:solidFill>
                <a:effectLst/>
              </a:rPr>
              <a:t>Assessed operational performance across 8 parlor locations and 3 production facilities</a:t>
            </a:r>
          </a:p>
          <a:p>
            <a:pPr algn="l">
              <a:buFont typeface="Arial" panose="020B0604020202020204" pitchFamily="34" charset="0"/>
              <a:buChar char="•"/>
            </a:pPr>
            <a:r>
              <a:rPr lang="en-US" b="0" i="0" dirty="0">
                <a:solidFill>
                  <a:srgbClr val="0F1115"/>
                </a:solidFill>
                <a:effectLst/>
              </a:rPr>
              <a:t>Identified customer engagement patterns </a:t>
            </a:r>
          </a:p>
          <a:p>
            <a:pPr marL="0" marR="0" indent="0">
              <a:lnSpc>
                <a:spcPct val="107000"/>
              </a:lnSpc>
              <a:spcBef>
                <a:spcPts val="0"/>
              </a:spcBef>
              <a:spcAft>
                <a:spcPts val="800"/>
              </a:spcAft>
              <a:buNone/>
            </a:pPr>
            <a:endParaRPr lang="en-US" sz="1800" b="1" kern="100" dirty="0">
              <a:effectLst/>
              <a:ea typeface="Aptos" panose="020B0004020202020204" pitchFamily="34" charset="0"/>
              <a:cs typeface="Times New Roman" panose="02020603050405020304" pitchFamily="18" charset="0"/>
            </a:endParaRPr>
          </a:p>
          <a:p>
            <a:pPr marL="0" indent="0">
              <a:buNone/>
            </a:pPr>
            <a:r>
              <a:rPr lang="en-US" sz="1800" b="1" kern="100" dirty="0">
                <a:effectLst/>
                <a:ea typeface="Aptos" panose="020B0004020202020204" pitchFamily="34" charset="0"/>
                <a:cs typeface="Times New Roman" panose="02020603050405020304" pitchFamily="18" charset="0"/>
              </a:rPr>
              <a:t>Why we did it:</a:t>
            </a:r>
          </a:p>
          <a:p>
            <a:r>
              <a:rPr lang="en-US" b="0" i="0" dirty="0">
                <a:solidFill>
                  <a:srgbClr val="0F1115"/>
                </a:solidFill>
                <a:effectLst/>
              </a:rPr>
              <a:t>To understand what drives customer satisfaction </a:t>
            </a:r>
          </a:p>
          <a:p>
            <a:pPr algn="l">
              <a:buFont typeface="Arial" panose="020B0604020202020204" pitchFamily="34" charset="0"/>
              <a:buChar char="•"/>
            </a:pPr>
            <a:r>
              <a:rPr lang="en-US" b="0" i="0" dirty="0">
                <a:solidFill>
                  <a:srgbClr val="0F1115"/>
                </a:solidFill>
                <a:effectLst/>
              </a:rPr>
              <a:t>To identify our most successful products and operational strengths</a:t>
            </a:r>
          </a:p>
          <a:p>
            <a:pPr algn="l">
              <a:buFont typeface="Arial" panose="020B0604020202020204" pitchFamily="34" charset="0"/>
              <a:buChar char="•"/>
            </a:pPr>
            <a:r>
              <a:rPr lang="en-US" b="0" i="0" dirty="0">
                <a:solidFill>
                  <a:srgbClr val="0F1115"/>
                </a:solidFill>
                <a:effectLst/>
              </a:rPr>
              <a:t>To uncover opportunities for growth and improvement</a:t>
            </a:r>
          </a:p>
          <a:p>
            <a:pPr algn="l">
              <a:buFont typeface="Arial" panose="020B0604020202020204" pitchFamily="34" charset="0"/>
              <a:buChar char="•"/>
            </a:pPr>
            <a:r>
              <a:rPr lang="en-US" b="0" i="0" dirty="0">
                <a:solidFill>
                  <a:srgbClr val="0F1115"/>
                </a:solidFill>
                <a:effectLst/>
              </a:rPr>
              <a:t>To make data-driven decisions about product portfolio optimization</a:t>
            </a:r>
          </a:p>
          <a:p>
            <a:pPr algn="l">
              <a:buFont typeface="Arial" panose="020B0604020202020204" pitchFamily="34" charset="0"/>
              <a:buChar char="•"/>
            </a:pPr>
            <a:r>
              <a:rPr lang="en-US" b="0" i="0" dirty="0">
                <a:solidFill>
                  <a:srgbClr val="0F1115"/>
                </a:solidFill>
                <a:effectLst/>
              </a:rPr>
              <a:t>To leverage customer feedback for marketing</a:t>
            </a:r>
          </a:p>
          <a:p>
            <a:pPr marL="0" marR="0" indent="0">
              <a:lnSpc>
                <a:spcPct val="107000"/>
              </a:lnSpc>
              <a:spcBef>
                <a:spcPts val="0"/>
              </a:spcBef>
              <a:spcAft>
                <a:spcPts val="800"/>
              </a:spcAft>
              <a:buNone/>
            </a:pPr>
            <a:endParaRPr lang="en-US" dirty="0"/>
          </a:p>
        </p:txBody>
      </p:sp>
    </p:spTree>
    <p:extLst>
      <p:ext uri="{BB962C8B-B14F-4D97-AF65-F5344CB8AC3E}">
        <p14:creationId xmlns:p14="http://schemas.microsoft.com/office/powerpoint/2010/main" val="3352264762"/>
      </p:ext>
    </p:extLst>
  </p:cSld>
  <p:clrMapOvr>
    <a:masterClrMapping/>
  </p:clrMapOvr>
  <mc:AlternateContent xmlns:mc="http://schemas.openxmlformats.org/markup-compatibility/2006" xmlns:p14="http://schemas.microsoft.com/office/powerpoint/2010/main">
    <mc:Choice Requires="p14">
      <p:transition spd="slow" p14:dur="2000" advTm="41023"/>
    </mc:Choice>
    <mc:Fallback xmlns="">
      <p:transition spd="slow" advTm="4102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E889B9-F206-43AE-08E0-C73B470FAE7D}"/>
              </a:ext>
            </a:extLst>
          </p:cNvPr>
          <p:cNvSpPr>
            <a:spLocks noGrp="1"/>
          </p:cNvSpPr>
          <p:nvPr>
            <p:ph type="title"/>
          </p:nvPr>
        </p:nvSpPr>
        <p:spPr>
          <a:xfrm>
            <a:off x="804672" y="964692"/>
            <a:ext cx="3066937" cy="1188720"/>
          </a:xfrm>
        </p:spPr>
        <p:txBody>
          <a:bodyPr>
            <a:normAutofit/>
          </a:bodyPr>
          <a:lstStyle/>
          <a:p>
            <a:r>
              <a:rPr lang="en-US" b="1" i="0">
                <a:effectLst/>
                <a:latin typeface="quote-cjk-patch"/>
              </a:rPr>
              <a:t>Analysis of Overall Sales</a:t>
            </a:r>
            <a:endParaRPr lang="en-US"/>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03244" y="2516957"/>
            <a:ext cx="3063765" cy="3384293"/>
          </a:xfrm>
        </p:spPr>
        <p:txBody>
          <a:bodyPr>
            <a:normAutofit/>
          </a:bodyPr>
          <a:lstStyle/>
          <a:p>
            <a:pPr marL="0" marR="0" indent="0">
              <a:lnSpc>
                <a:spcPct val="90000"/>
              </a:lnSpc>
              <a:spcBef>
                <a:spcPts val="0"/>
              </a:spcBef>
              <a:spcAft>
                <a:spcPts val="800"/>
              </a:spcAft>
              <a:buNone/>
            </a:pPr>
            <a:endParaRPr lang="en-US" sz="1000" b="1" kern="100" dirty="0">
              <a:ea typeface="Aptos" panose="020B0004020202020204" pitchFamily="34" charset="0"/>
              <a:cs typeface="Times New Roman" panose="02020603050405020304" pitchFamily="18" charset="0"/>
            </a:endParaRPr>
          </a:p>
          <a:p>
            <a:pPr marL="0" marR="0" indent="0">
              <a:lnSpc>
                <a:spcPct val="90000"/>
              </a:lnSpc>
              <a:spcBef>
                <a:spcPts val="0"/>
              </a:spcBef>
              <a:spcAft>
                <a:spcPts val="800"/>
              </a:spcAft>
              <a:buNone/>
            </a:pPr>
            <a:r>
              <a:rPr lang="en-US" sz="1000" b="1" kern="100" dirty="0">
                <a:effectLst/>
                <a:ea typeface="Aptos" panose="020B0004020202020204" pitchFamily="34" charset="0"/>
                <a:cs typeface="Times New Roman" panose="02020603050405020304" pitchFamily="18" charset="0"/>
              </a:rPr>
              <a:t>Key Insights from the Chart:</a:t>
            </a:r>
            <a:endParaRPr lang="en-US" sz="1000" kern="100" dirty="0">
              <a:effectLst/>
              <a:ea typeface="Aptos" panose="020B0004020202020204" pitchFamily="34" charset="0"/>
              <a:cs typeface="Times New Roman" panose="02020603050405020304" pitchFamily="18" charset="0"/>
            </a:endParaRPr>
          </a:p>
          <a:p>
            <a:pPr marL="342900" marR="0" lvl="0" indent="-342900">
              <a:lnSpc>
                <a:spcPct val="90000"/>
              </a:lnSpc>
              <a:spcBef>
                <a:spcPts val="0"/>
              </a:spcBef>
              <a:spcAft>
                <a:spcPts val="800"/>
              </a:spcAft>
              <a:buSzPts val="1000"/>
              <a:buFont typeface="Symbol" panose="05050102010706020507" pitchFamily="18" charset="2"/>
              <a:buChar char=""/>
              <a:tabLst>
                <a:tab pos="457200" algn="l"/>
              </a:tabLst>
            </a:pPr>
            <a:r>
              <a:rPr lang="en-US" sz="1000" kern="100" dirty="0">
                <a:effectLst/>
                <a:ea typeface="Aptos" panose="020B0004020202020204" pitchFamily="34" charset="0"/>
                <a:cs typeface="Times New Roman" panose="02020603050405020304" pitchFamily="18" charset="0"/>
              </a:rPr>
              <a:t> Feature Flavors: 43,497 units (50%)</a:t>
            </a:r>
          </a:p>
          <a:p>
            <a:pPr marL="342900" marR="0" lvl="0" indent="-342900">
              <a:lnSpc>
                <a:spcPct val="90000"/>
              </a:lnSpc>
              <a:spcBef>
                <a:spcPts val="0"/>
              </a:spcBef>
              <a:spcAft>
                <a:spcPts val="800"/>
              </a:spcAft>
              <a:buSzPts val="1000"/>
              <a:buFont typeface="Symbol" panose="05050102010706020507" pitchFamily="18" charset="2"/>
              <a:buChar char=""/>
              <a:tabLst>
                <a:tab pos="457200" algn="l"/>
              </a:tabLst>
            </a:pPr>
            <a:r>
              <a:rPr lang="en-US" sz="1000" kern="100" dirty="0">
                <a:effectLst/>
                <a:ea typeface="Aptos" panose="020B0004020202020204" pitchFamily="34" charset="0"/>
                <a:cs typeface="Times New Roman" panose="02020603050405020304" pitchFamily="18" charset="0"/>
              </a:rPr>
              <a:t>Chocolate: 17,611 units (20%)</a:t>
            </a:r>
          </a:p>
          <a:p>
            <a:pPr marL="342900" marR="0" lvl="0" indent="-342900">
              <a:lnSpc>
                <a:spcPct val="90000"/>
              </a:lnSpc>
              <a:spcBef>
                <a:spcPts val="0"/>
              </a:spcBef>
              <a:spcAft>
                <a:spcPts val="800"/>
              </a:spcAft>
              <a:buSzPts val="1000"/>
              <a:buFont typeface="Symbol" panose="05050102010706020507" pitchFamily="18" charset="2"/>
              <a:buChar char=""/>
              <a:tabLst>
                <a:tab pos="457200" algn="l"/>
              </a:tabLst>
            </a:pPr>
            <a:r>
              <a:rPr lang="en-US" sz="1000" kern="100" dirty="0">
                <a:effectLst/>
                <a:ea typeface="Aptos" panose="020B0004020202020204" pitchFamily="34" charset="0"/>
                <a:cs typeface="Times New Roman" panose="02020603050405020304" pitchFamily="18" charset="0"/>
              </a:rPr>
              <a:t> Vanilla: 17,283 units (20%)</a:t>
            </a:r>
          </a:p>
          <a:p>
            <a:pPr marL="342900" marR="0" lvl="0" indent="-342900">
              <a:lnSpc>
                <a:spcPct val="90000"/>
              </a:lnSpc>
              <a:spcBef>
                <a:spcPts val="0"/>
              </a:spcBef>
              <a:spcAft>
                <a:spcPts val="800"/>
              </a:spcAft>
              <a:buSzPts val="1000"/>
              <a:buFont typeface="Symbol" panose="05050102010706020507" pitchFamily="18" charset="2"/>
              <a:buChar char=""/>
              <a:tabLst>
                <a:tab pos="457200" algn="l"/>
              </a:tabLst>
            </a:pPr>
            <a:r>
              <a:rPr lang="en-US" sz="1000" kern="100" dirty="0">
                <a:effectLst/>
                <a:ea typeface="Aptos" panose="020B0004020202020204" pitchFamily="34" charset="0"/>
                <a:cs typeface="Times New Roman" panose="02020603050405020304" pitchFamily="18" charset="0"/>
              </a:rPr>
              <a:t> Superman: 8,632 units (10%)</a:t>
            </a:r>
          </a:p>
          <a:p>
            <a:pPr marL="0" marR="0" lvl="0" indent="0">
              <a:lnSpc>
                <a:spcPct val="90000"/>
              </a:lnSpc>
              <a:spcBef>
                <a:spcPts val="0"/>
              </a:spcBef>
              <a:spcAft>
                <a:spcPts val="800"/>
              </a:spcAft>
              <a:buSzPts val="1000"/>
              <a:buNone/>
              <a:tabLst>
                <a:tab pos="457200" algn="l"/>
              </a:tabLst>
            </a:pPr>
            <a:endParaRPr lang="en-US" sz="1000" kern="100" dirty="0">
              <a:effectLst/>
              <a:ea typeface="Aptos" panose="020B0004020202020204" pitchFamily="34" charset="0"/>
              <a:cs typeface="Times New Roman" panose="02020603050405020304" pitchFamily="18" charset="0"/>
            </a:endParaRPr>
          </a:p>
          <a:p>
            <a:pPr marL="0" marR="0" indent="0">
              <a:lnSpc>
                <a:spcPct val="90000"/>
              </a:lnSpc>
              <a:spcBef>
                <a:spcPts val="0"/>
              </a:spcBef>
              <a:spcAft>
                <a:spcPts val="800"/>
              </a:spcAft>
              <a:buNone/>
            </a:pPr>
            <a:r>
              <a:rPr lang="en-US" sz="1000" b="1" kern="100" dirty="0">
                <a:effectLst/>
                <a:ea typeface="Aptos" panose="020B0004020202020204" pitchFamily="34" charset="0"/>
                <a:cs typeface="Times New Roman" panose="02020603050405020304" pitchFamily="18" charset="0"/>
              </a:rPr>
              <a:t> Recommendations:</a:t>
            </a:r>
            <a:endParaRPr lang="en-US" sz="1000" kern="100" dirty="0">
              <a:effectLst/>
              <a:ea typeface="Aptos" panose="020B0004020202020204" pitchFamily="34" charset="0"/>
              <a:cs typeface="Times New Roman" panose="02020603050405020304" pitchFamily="18" charset="0"/>
            </a:endParaRPr>
          </a:p>
          <a:p>
            <a:pPr>
              <a:lnSpc>
                <a:spcPct val="90000"/>
              </a:lnSpc>
            </a:pPr>
            <a:r>
              <a:rPr lang="en-US" sz="1000" dirty="0"/>
              <a:t>We should focus on the feature flavors.</a:t>
            </a:r>
          </a:p>
          <a:p>
            <a:pPr>
              <a:lnSpc>
                <a:spcPct val="90000"/>
              </a:lnSpc>
            </a:pPr>
            <a:r>
              <a:rPr lang="en-US" sz="1000" dirty="0"/>
              <a:t>All ice cream companies produce basic flavors but these feature flavors are unique and only we produce them. So, we have to leverage this absence of competitors and use it as the driving force of our marketing campaigns.</a:t>
            </a:r>
          </a:p>
        </p:txBody>
      </p:sp>
      <p:sp>
        <p:nvSpPr>
          <p:cNvPr id="24" name="Rectangle 23">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with colorful squares&#10;&#10;Description automatically generated with medium confidence">
            <a:extLst>
              <a:ext uri="{FF2B5EF4-FFF2-40B4-BE49-F238E27FC236}">
                <a16:creationId xmlns:a16="http://schemas.microsoft.com/office/drawing/2014/main" id="{9648E0C4-0248-8F9F-1668-94EC2A0AA2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366" y="1408014"/>
            <a:ext cx="6392628" cy="3947671"/>
          </a:xfrm>
          <a:prstGeom prst="rect">
            <a:avLst/>
          </a:prstGeom>
        </p:spPr>
      </p:pic>
    </p:spTree>
    <p:extLst>
      <p:ext uri="{BB962C8B-B14F-4D97-AF65-F5344CB8AC3E}">
        <p14:creationId xmlns:p14="http://schemas.microsoft.com/office/powerpoint/2010/main" val="3180876176"/>
      </p:ext>
    </p:extLst>
  </p:cSld>
  <p:clrMapOvr>
    <a:masterClrMapping/>
  </p:clrMapOvr>
  <mc:AlternateContent xmlns:mc="http://schemas.openxmlformats.org/markup-compatibility/2006" xmlns:p14="http://schemas.microsoft.com/office/powerpoint/2010/main">
    <mc:Choice Requires="p14">
      <p:transition spd="slow" p14:dur="2000" advTm="23484"/>
    </mc:Choice>
    <mc:Fallback xmlns="">
      <p:transition spd="slow" advTm="2348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312677" y="964692"/>
            <a:ext cx="3066937" cy="1188720"/>
          </a:xfrm>
        </p:spPr>
        <p:txBody>
          <a:bodyPr>
            <a:normAutofit/>
          </a:bodyPr>
          <a:lstStyle/>
          <a:p>
            <a:r>
              <a:rPr lang="en-US" sz="2400" b="1" i="0">
                <a:effectLst/>
                <a:latin typeface="quote-cjk-patch"/>
              </a:rPr>
              <a:t>Analysis of Feature Flavors</a:t>
            </a:r>
            <a:endParaRPr lang="en-US" sz="2400"/>
          </a:p>
        </p:txBody>
      </p:sp>
      <p:sp>
        <p:nvSpPr>
          <p:cNvPr id="41" name="Rectangle 40">
            <a:extLst>
              <a:ext uri="{FF2B5EF4-FFF2-40B4-BE49-F238E27FC236}">
                <a16:creationId xmlns:a16="http://schemas.microsoft.com/office/drawing/2014/main" id="{A99FE660-E3DF-47E7-962D-66C6F6CE0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795"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38C29FEE-8E8F-43D5-AD23-EB4060B4D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8415"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F053E84-7D7C-9AF5-355B-32F16A046DEC}"/>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1143979" y="1510365"/>
            <a:ext cx="6227064" cy="3845212"/>
          </a:xfrm>
          <a:prstGeom prst="rect">
            <a:avLst/>
          </a:prstGeom>
        </p:spPr>
      </p:pic>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8312677" y="2630078"/>
            <a:ext cx="3063765" cy="3263230"/>
          </a:xfrm>
        </p:spPr>
        <p:txBody>
          <a:bodyPr>
            <a:normAutofit fontScale="70000" lnSpcReduction="20000"/>
          </a:bodyPr>
          <a:lstStyle/>
          <a:p>
            <a:pPr marL="0" indent="0" algn="l">
              <a:buNone/>
            </a:pPr>
            <a:r>
              <a:rPr lang="en-US" sz="1400" b="1" dirty="0">
                <a:solidFill>
                  <a:srgbClr val="0F1115"/>
                </a:solidFill>
                <a:effectLst/>
              </a:rPr>
              <a:t>Customer Favorites</a:t>
            </a:r>
          </a:p>
          <a:p>
            <a:pPr algn="l"/>
            <a:r>
              <a:rPr lang="en-US" sz="1400" dirty="0">
                <a:solidFill>
                  <a:srgbClr val="0F1115"/>
                </a:solidFill>
                <a:effectLst/>
              </a:rPr>
              <a:t>The Robust Cherry Surprise has the highest sentiment score and the customers </a:t>
            </a:r>
            <a:r>
              <a:rPr lang="en-US" sz="1400" dirty="0">
                <a:solidFill>
                  <a:srgbClr val="0F1115"/>
                </a:solidFill>
              </a:rPr>
              <a:t>love </a:t>
            </a:r>
            <a:r>
              <a:rPr lang="en-US" sz="1400" dirty="0">
                <a:solidFill>
                  <a:srgbClr val="0F1115"/>
                </a:solidFill>
                <a:effectLst/>
              </a:rPr>
              <a:t>it the most.</a:t>
            </a:r>
          </a:p>
          <a:p>
            <a:pPr algn="l"/>
            <a:r>
              <a:rPr lang="en-US" sz="1400" dirty="0">
                <a:solidFill>
                  <a:srgbClr val="0F1115"/>
                </a:solidFill>
                <a:effectLst/>
              </a:rPr>
              <a:t>Thimbleberry Thunder </a:t>
            </a:r>
            <a:r>
              <a:rPr lang="en-US" sz="1400" dirty="0">
                <a:solidFill>
                  <a:srgbClr val="0F1115"/>
                </a:solidFill>
              </a:rPr>
              <a:t>is a s</a:t>
            </a:r>
            <a:r>
              <a:rPr lang="en-US" sz="1400" dirty="0">
                <a:solidFill>
                  <a:srgbClr val="0F1115"/>
                </a:solidFill>
                <a:effectLst/>
              </a:rPr>
              <a:t>trong niche favorite.</a:t>
            </a:r>
          </a:p>
          <a:p>
            <a:pPr algn="l"/>
            <a:r>
              <a:rPr lang="en-US" sz="1400" dirty="0">
                <a:solidFill>
                  <a:srgbClr val="0F1115"/>
                </a:solidFill>
                <a:effectLst/>
              </a:rPr>
              <a:t>The Strawberry Pie</a:t>
            </a:r>
            <a:r>
              <a:rPr lang="en-US" sz="1400" dirty="0">
                <a:solidFill>
                  <a:srgbClr val="0F1115"/>
                </a:solidFill>
              </a:rPr>
              <a:t> </a:t>
            </a:r>
            <a:r>
              <a:rPr lang="en-US" sz="1400" dirty="0">
                <a:solidFill>
                  <a:srgbClr val="0F1115"/>
                </a:solidFill>
                <a:effectLst/>
              </a:rPr>
              <a:t>is a consistent high performer.</a:t>
            </a:r>
          </a:p>
          <a:p>
            <a:pPr marL="0" indent="0" algn="l">
              <a:buNone/>
            </a:pPr>
            <a:r>
              <a:rPr lang="en-US" sz="1400" b="1" dirty="0">
                <a:solidFill>
                  <a:srgbClr val="0F1115"/>
                </a:solidFill>
                <a:effectLst/>
              </a:rPr>
              <a:t>Sales Champions</a:t>
            </a:r>
          </a:p>
          <a:p>
            <a:pPr algn="l"/>
            <a:r>
              <a:rPr lang="en-US" sz="1400" dirty="0">
                <a:solidFill>
                  <a:srgbClr val="0F1115"/>
                </a:solidFill>
                <a:effectLst/>
              </a:rPr>
              <a:t>Paw Claw Ice Cream has sold the highest number of units.</a:t>
            </a:r>
          </a:p>
          <a:p>
            <a:pPr algn="l"/>
            <a:r>
              <a:rPr lang="en-US" sz="1400" dirty="0">
                <a:solidFill>
                  <a:srgbClr val="0F1115"/>
                </a:solidFill>
                <a:effectLst/>
              </a:rPr>
              <a:t>The Sweet Dreams has a Strong market presence.</a:t>
            </a:r>
          </a:p>
          <a:p>
            <a:pPr marL="0" indent="0" algn="l">
              <a:buNone/>
            </a:pPr>
            <a:r>
              <a:rPr lang="en-US" sz="1400" b="1" dirty="0">
                <a:solidFill>
                  <a:srgbClr val="0F1115"/>
                </a:solidFill>
                <a:effectLst/>
              </a:rPr>
              <a:t>Immediate Concern</a:t>
            </a:r>
          </a:p>
          <a:p>
            <a:pPr algn="l"/>
            <a:r>
              <a:rPr lang="en-US" sz="1400" dirty="0">
                <a:solidFill>
                  <a:srgbClr val="0F1115"/>
                </a:solidFill>
                <a:effectLst/>
              </a:rPr>
              <a:t>The Cherry Pie Chunk requires urgent attention since it is the only product with negative sentiment score.</a:t>
            </a:r>
            <a:endParaRPr lang="en-US" sz="1400" dirty="0"/>
          </a:p>
        </p:txBody>
      </p:sp>
    </p:spTree>
    <p:extLst>
      <p:ext uri="{BB962C8B-B14F-4D97-AF65-F5344CB8AC3E}">
        <p14:creationId xmlns:p14="http://schemas.microsoft.com/office/powerpoint/2010/main" val="1489268408"/>
      </p:ext>
    </p:extLst>
  </p:cSld>
  <p:clrMapOvr>
    <a:masterClrMapping/>
  </p:clrMapOvr>
  <mc:AlternateContent xmlns:mc="http://schemas.openxmlformats.org/markup-compatibility/2006" xmlns:p14="http://schemas.microsoft.com/office/powerpoint/2010/main">
    <mc:Choice Requires="p14">
      <p:transition spd="slow" p14:dur="2000" advTm="25302"/>
    </mc:Choice>
    <mc:Fallback xmlns="">
      <p:transition spd="slow" advTm="2530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04672" y="964692"/>
            <a:ext cx="3849624" cy="1188720"/>
          </a:xfrm>
        </p:spPr>
        <p:txBody>
          <a:bodyPr>
            <a:normAutofit/>
          </a:bodyPr>
          <a:lstStyle/>
          <a:p>
            <a:pPr marL="0" marR="0">
              <a:spcBef>
                <a:spcPts val="0"/>
              </a:spcBef>
              <a:spcAft>
                <a:spcPts val="800"/>
              </a:spcAft>
            </a:pPr>
            <a:r>
              <a:rPr lang="en-US" b="1" kern="100" dirty="0">
                <a:effectLst/>
                <a:latin typeface="Aptos" panose="020B0004020202020204" pitchFamily="34" charset="0"/>
                <a:ea typeface="Aptos" panose="020B0004020202020204" pitchFamily="34" charset="0"/>
                <a:cs typeface="Times New Roman" panose="02020603050405020304" pitchFamily="18" charset="0"/>
              </a:rPr>
              <a:t>Top Performing Locations</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Content Placeholder 10">
            <a:extLst>
              <a:ext uri="{FF2B5EF4-FFF2-40B4-BE49-F238E27FC236}">
                <a16:creationId xmlns:a16="http://schemas.microsoft.com/office/drawing/2014/main" id="{187B563E-78D1-D160-C4D2-9E6442F5F029}"/>
              </a:ext>
            </a:extLst>
          </p:cNvPr>
          <p:cNvSpPr>
            <a:spLocks noGrp="1"/>
          </p:cNvSpPr>
          <p:nvPr>
            <p:ph idx="1"/>
          </p:nvPr>
        </p:nvSpPr>
        <p:spPr>
          <a:xfrm>
            <a:off x="804672" y="2638044"/>
            <a:ext cx="3849624" cy="3101983"/>
          </a:xfrm>
        </p:spPr>
        <p:txBody>
          <a:bodyPr>
            <a:normAutofit fontScale="55000" lnSpcReduction="20000"/>
          </a:bodyPr>
          <a:lstStyle/>
          <a:p>
            <a:pPr marL="0" indent="0" algn="l">
              <a:buNone/>
            </a:pPr>
            <a:r>
              <a:rPr lang="en-US" b="1" i="0" dirty="0">
                <a:solidFill>
                  <a:srgbClr val="0F1115"/>
                </a:solidFill>
                <a:effectLst/>
              </a:rPr>
              <a:t>Parlor Operations:</a:t>
            </a:r>
            <a:endParaRPr lang="en-US" b="0" i="0" dirty="0">
              <a:solidFill>
                <a:srgbClr val="0F1115"/>
              </a:solidFill>
              <a:effectLst/>
            </a:endParaRPr>
          </a:p>
          <a:p>
            <a:pPr algn="l">
              <a:buFont typeface="Arial" panose="020B0604020202020204" pitchFamily="34" charset="0"/>
              <a:buChar char="•"/>
            </a:pPr>
            <a:r>
              <a:rPr lang="en-US" b="1" dirty="0">
                <a:solidFill>
                  <a:srgbClr val="0F1115"/>
                </a:solidFill>
                <a:effectLst/>
              </a:rPr>
              <a:t>Traverse City</a:t>
            </a:r>
            <a:r>
              <a:rPr lang="en-US" b="0" dirty="0">
                <a:solidFill>
                  <a:srgbClr val="0F1115"/>
                </a:solidFill>
                <a:effectLst/>
              </a:rPr>
              <a:t>: 8,738 comments with 1.53 sentiment score</a:t>
            </a:r>
          </a:p>
          <a:p>
            <a:pPr algn="l">
              <a:buFont typeface="Arial" panose="020B0604020202020204" pitchFamily="34" charset="0"/>
              <a:buChar char="•"/>
            </a:pPr>
            <a:r>
              <a:rPr lang="en-US" b="0" dirty="0">
                <a:solidFill>
                  <a:srgbClr val="0F1115"/>
                </a:solidFill>
                <a:effectLst/>
              </a:rPr>
              <a:t>Tourist location driving high engagement</a:t>
            </a:r>
          </a:p>
          <a:p>
            <a:pPr algn="l">
              <a:buFont typeface="Arial" panose="020B0604020202020204" pitchFamily="34" charset="0"/>
              <a:buChar char="•"/>
            </a:pPr>
            <a:r>
              <a:rPr lang="en-US" b="0" dirty="0">
                <a:solidFill>
                  <a:srgbClr val="0F1115"/>
                </a:solidFill>
                <a:effectLst/>
              </a:rPr>
              <a:t>Consistently excellent customer experiences</a:t>
            </a:r>
          </a:p>
          <a:p>
            <a:pPr marL="0" indent="0" algn="l">
              <a:buNone/>
            </a:pPr>
            <a:r>
              <a:rPr lang="en-US" b="1" dirty="0">
                <a:solidFill>
                  <a:srgbClr val="0F1115"/>
                </a:solidFill>
                <a:effectLst/>
              </a:rPr>
              <a:t>Production Facilities:</a:t>
            </a:r>
            <a:endParaRPr lang="en-US" b="0" dirty="0">
              <a:solidFill>
                <a:srgbClr val="0F1115"/>
              </a:solidFill>
              <a:effectLst/>
            </a:endParaRPr>
          </a:p>
          <a:p>
            <a:pPr algn="l">
              <a:buFont typeface="Arial" panose="020B0604020202020204" pitchFamily="34" charset="0"/>
              <a:buChar char="•"/>
            </a:pPr>
            <a:r>
              <a:rPr lang="en-US" b="1" dirty="0">
                <a:solidFill>
                  <a:srgbClr val="0F1115"/>
                </a:solidFill>
                <a:effectLst/>
              </a:rPr>
              <a:t>Mount Pleasant</a:t>
            </a:r>
            <a:r>
              <a:rPr lang="en-US" b="0" dirty="0">
                <a:solidFill>
                  <a:srgbClr val="0F1115"/>
                </a:solidFill>
                <a:effectLst/>
              </a:rPr>
              <a:t>: 12,908 comments with 1.55 sentiment score</a:t>
            </a:r>
          </a:p>
          <a:p>
            <a:pPr algn="l">
              <a:buFont typeface="Arial" panose="020B0604020202020204" pitchFamily="34" charset="0"/>
              <a:buChar char="•"/>
            </a:pPr>
            <a:r>
              <a:rPr lang="en-US" b="0" dirty="0">
                <a:solidFill>
                  <a:srgbClr val="0F1115"/>
                </a:solidFill>
                <a:effectLst/>
              </a:rPr>
              <a:t>Highest volume and highest quality</a:t>
            </a:r>
          </a:p>
          <a:p>
            <a:pPr algn="l">
              <a:buFont typeface="Arial" panose="020B0604020202020204" pitchFamily="34" charset="0"/>
              <a:buChar char="•"/>
            </a:pPr>
            <a:r>
              <a:rPr lang="en-US" b="0" dirty="0">
                <a:solidFill>
                  <a:srgbClr val="0F1115"/>
                </a:solidFill>
                <a:effectLst/>
              </a:rPr>
              <a:t>Model for manufacturing excellence</a:t>
            </a:r>
          </a:p>
          <a:p>
            <a:pPr marL="0" indent="0" algn="l">
              <a:buNone/>
            </a:pPr>
            <a:r>
              <a:rPr lang="en-US" b="1" dirty="0">
                <a:solidFill>
                  <a:srgbClr val="0F1115"/>
                </a:solidFill>
                <a:effectLst/>
              </a:rPr>
              <a:t>Business Impact:</a:t>
            </a:r>
            <a:endParaRPr lang="en-US" b="0" dirty="0">
              <a:solidFill>
                <a:srgbClr val="0F1115"/>
              </a:solidFill>
              <a:effectLst/>
            </a:endParaRPr>
          </a:p>
          <a:p>
            <a:pPr algn="l">
              <a:buFont typeface="Arial" panose="020B0604020202020204" pitchFamily="34" charset="0"/>
              <a:buChar char="•"/>
            </a:pPr>
            <a:r>
              <a:rPr lang="en-US" b="0" dirty="0">
                <a:solidFill>
                  <a:srgbClr val="0F1115"/>
                </a:solidFill>
                <a:effectLst/>
              </a:rPr>
              <a:t>These locations represent our operational gold standard</a:t>
            </a:r>
          </a:p>
          <a:p>
            <a:pPr algn="l">
              <a:buFont typeface="Arial" panose="020B0604020202020204" pitchFamily="34" charset="0"/>
              <a:buChar char="•"/>
            </a:pPr>
            <a:r>
              <a:rPr lang="en-US" b="0" dirty="0">
                <a:solidFill>
                  <a:srgbClr val="0F1115"/>
                </a:solidFill>
                <a:effectLst/>
              </a:rPr>
              <a:t>Success factors should be replicated across all sites</a:t>
            </a:r>
          </a:p>
          <a:p>
            <a:pPr algn="l">
              <a:buFont typeface="Arial" panose="020B0604020202020204" pitchFamily="34" charset="0"/>
              <a:buChar char="•"/>
            </a:pPr>
            <a:r>
              <a:rPr lang="en-US" b="0" dirty="0">
                <a:solidFill>
                  <a:srgbClr val="0F1115"/>
                </a:solidFill>
                <a:effectLst/>
              </a:rPr>
              <a:t>Proven capability to handle volume while maintaining quality</a:t>
            </a:r>
          </a:p>
          <a:p>
            <a:endParaRPr lang="en-US" dirty="0"/>
          </a:p>
        </p:txBody>
      </p:sp>
      <p:pic>
        <p:nvPicPr>
          <p:cNvPr id="5" name="Content Placeholder 4" descr="A graph of a number of comments&#10;&#10;Description automatically generated">
            <a:extLst>
              <a:ext uri="{FF2B5EF4-FFF2-40B4-BE49-F238E27FC236}">
                <a16:creationId xmlns:a16="http://schemas.microsoft.com/office/drawing/2014/main" id="{257B40E4-9960-1A9C-FF85-A557F3A1D0C9}"/>
              </a:ext>
            </a:extLst>
          </p:cNvPr>
          <p:cNvPicPr>
            <a:picLocks noChangeAspect="1"/>
          </p:cNvPicPr>
          <p:nvPr/>
        </p:nvPicPr>
        <p:blipFill>
          <a:blip r:embed="rId3">
            <a:extLst>
              <a:ext uri="{28A0092B-C50C-407E-A947-70E740481C1C}">
                <a14:useLocalDpi xmlns:a14="http://schemas.microsoft.com/office/drawing/2010/main" val="0"/>
              </a:ext>
            </a:extLst>
          </a:blip>
          <a:srcRect b="18044"/>
          <a:stretch>
            <a:fillRect/>
          </a:stretch>
        </p:blipFill>
        <p:spPr>
          <a:xfrm>
            <a:off x="5453178" y="-2"/>
            <a:ext cx="6739097" cy="3410712"/>
          </a:xfrm>
          <a:prstGeom prst="rect">
            <a:avLst/>
          </a:prstGeom>
        </p:spPr>
      </p:pic>
      <p:pic>
        <p:nvPicPr>
          <p:cNvPr id="7" name="Picture 6" descr="A graph of a number of comments&#10;&#10;Description automatically generated">
            <a:extLst>
              <a:ext uri="{FF2B5EF4-FFF2-40B4-BE49-F238E27FC236}">
                <a16:creationId xmlns:a16="http://schemas.microsoft.com/office/drawing/2014/main" id="{427E284C-0EBC-4970-6AD3-6414BE341063}"/>
              </a:ext>
            </a:extLst>
          </p:cNvPr>
          <p:cNvPicPr>
            <a:picLocks noChangeAspect="1"/>
          </p:cNvPicPr>
          <p:nvPr/>
        </p:nvPicPr>
        <p:blipFill>
          <a:blip r:embed="rId4">
            <a:extLst>
              <a:ext uri="{28A0092B-C50C-407E-A947-70E740481C1C}">
                <a14:useLocalDpi xmlns:a14="http://schemas.microsoft.com/office/drawing/2010/main" val="0"/>
              </a:ext>
            </a:extLst>
          </a:blip>
          <a:srcRect b="18044"/>
          <a:stretch>
            <a:fillRect/>
          </a:stretch>
        </p:blipFill>
        <p:spPr>
          <a:xfrm>
            <a:off x="5452903" y="3447288"/>
            <a:ext cx="6739097" cy="3410712"/>
          </a:xfrm>
          <a:prstGeom prst="rect">
            <a:avLst/>
          </a:prstGeom>
        </p:spPr>
      </p:pic>
    </p:spTree>
    <p:extLst>
      <p:ext uri="{BB962C8B-B14F-4D97-AF65-F5344CB8AC3E}">
        <p14:creationId xmlns:p14="http://schemas.microsoft.com/office/powerpoint/2010/main" val="773324215"/>
      </p:ext>
    </p:extLst>
  </p:cSld>
  <p:clrMapOvr>
    <a:masterClrMapping/>
  </p:clrMapOvr>
  <mc:AlternateContent xmlns:mc="http://schemas.openxmlformats.org/markup-compatibility/2006" xmlns:p14="http://schemas.microsoft.com/office/powerpoint/2010/main">
    <mc:Choice Requires="p14">
      <p:transition spd="slow" p14:dur="2000" advTm="29885"/>
    </mc:Choice>
    <mc:Fallback xmlns="">
      <p:transition spd="slow" advTm="2988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2231135" y="219625"/>
            <a:ext cx="8504597" cy="1188720"/>
          </a:xfrm>
        </p:spPr>
        <p:txBody>
          <a:bodyPr>
            <a:normAutofit/>
          </a:bodyPr>
          <a:lstStyle/>
          <a:p>
            <a:r>
              <a:rPr lang="en-US" sz="2400" b="1" dirty="0">
                <a:effectLst/>
                <a:latin typeface="Aptos" panose="020B0004020202020204" pitchFamily="34" charset="0"/>
                <a:ea typeface="Aptos" panose="020B0004020202020204" pitchFamily="34" charset="0"/>
                <a:cs typeface="Times New Roman" panose="02020603050405020304" pitchFamily="18" charset="0"/>
              </a:rPr>
              <a:t>Strategic Recommendations</a:t>
            </a:r>
            <a:endParaRPr lang="en-US" sz="2400" dirty="0"/>
          </a:p>
        </p:txBody>
      </p:sp>
      <p:sp>
        <p:nvSpPr>
          <p:cNvPr id="3" name="Content Placeholder 2">
            <a:extLst>
              <a:ext uri="{FF2B5EF4-FFF2-40B4-BE49-F238E27FC236}">
                <a16:creationId xmlns:a16="http://schemas.microsoft.com/office/drawing/2014/main" id="{3892D6AB-2A28-5098-F800-19046761F5E8}"/>
              </a:ext>
            </a:extLst>
          </p:cNvPr>
          <p:cNvSpPr>
            <a:spLocks noGrp="1"/>
          </p:cNvSpPr>
          <p:nvPr>
            <p:ph idx="1"/>
          </p:nvPr>
        </p:nvSpPr>
        <p:spPr>
          <a:xfrm>
            <a:off x="530578" y="1599466"/>
            <a:ext cx="11356622" cy="4677156"/>
          </a:xfrm>
        </p:spPr>
        <p:txBody>
          <a:bodyPr/>
          <a:lstStyle/>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Discontinue production of the Cherry pie chunk. Since it’s the only product with negative sentiment value, the best course of action would be to get rid of it.</a:t>
            </a: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Expand production and marketing of Robust Cherry Surprise, capitalize on the cherry flavor that customers like. So, get rid of the bad cherry flavor and double down on the good one.</a:t>
            </a: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Create combo packs with the top flavors. Based on my sentiment analysis we can create combo packs of the 3 top flavors that the customers love.</a:t>
            </a:r>
          </a:p>
          <a:p>
            <a:pPr marL="342900" marR="0" lvl="0" indent="-342900">
              <a:lnSpc>
                <a:spcPct val="107000"/>
              </a:lnSpc>
              <a:spcBef>
                <a:spcPts val="0"/>
              </a:spcBef>
              <a:spcAft>
                <a:spcPts val="800"/>
              </a:spcAft>
              <a:buFont typeface="+mj-lt"/>
              <a:buAutoNum type="arabicPeriod"/>
            </a:pPr>
            <a:r>
              <a:rPr lang="en-US" sz="1800" kern="100" dirty="0">
                <a:effectLst/>
                <a:ea typeface="Aptos" panose="020B0004020202020204" pitchFamily="34" charset="0"/>
                <a:cs typeface="Times New Roman" panose="02020603050405020304" pitchFamily="18" charset="0"/>
              </a:rPr>
              <a:t>Use the positive customer feedback and comments for marketing in social media platforms. Use the quotes by the customers or feature them in marketing campaigns.</a:t>
            </a:r>
          </a:p>
          <a:p>
            <a:pPr marL="0" indent="0">
              <a:buNone/>
            </a:pPr>
            <a:endParaRPr lang="en-US" dirty="0"/>
          </a:p>
        </p:txBody>
      </p:sp>
    </p:spTree>
    <p:extLst>
      <p:ext uri="{BB962C8B-B14F-4D97-AF65-F5344CB8AC3E}">
        <p14:creationId xmlns:p14="http://schemas.microsoft.com/office/powerpoint/2010/main" val="3968960103"/>
      </p:ext>
    </p:extLst>
  </p:cSld>
  <p:clrMapOvr>
    <a:masterClrMapping/>
  </p:clrMapOvr>
  <mc:AlternateContent xmlns:mc="http://schemas.openxmlformats.org/markup-compatibility/2006" xmlns:p14="http://schemas.microsoft.com/office/powerpoint/2010/main">
    <mc:Choice Requires="p14">
      <p:transition spd="slow" p14:dur="2000" advTm="57109"/>
    </mc:Choice>
    <mc:Fallback xmlns="">
      <p:transition spd="slow" advTm="5710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13F13-123A-3BEB-3349-579E33365A29}"/>
              </a:ext>
            </a:extLst>
          </p:cNvPr>
          <p:cNvSpPr>
            <a:spLocks noGrp="1"/>
          </p:cNvSpPr>
          <p:nvPr>
            <p:ph type="title"/>
          </p:nvPr>
        </p:nvSpPr>
        <p:spPr>
          <a:xfrm>
            <a:off x="850279" y="1834190"/>
            <a:ext cx="10491441" cy="3189619"/>
          </a:xfrm>
        </p:spPr>
        <p:txBody>
          <a:bodyPr>
            <a:normAutofit/>
          </a:bodyPr>
          <a:lstStyle/>
          <a:p>
            <a:r>
              <a:rPr lang="en-US" sz="8800" b="1" i="0" dirty="0">
                <a:solidFill>
                  <a:srgbClr val="0F1115"/>
                </a:solidFill>
                <a:effectLst/>
                <a:latin typeface="quote-cjk-patch"/>
              </a:rPr>
              <a:t>Thank you</a:t>
            </a:r>
            <a:endParaRPr lang="en-US" sz="8800" dirty="0"/>
          </a:p>
        </p:txBody>
      </p:sp>
    </p:spTree>
    <p:extLst>
      <p:ext uri="{BB962C8B-B14F-4D97-AF65-F5344CB8AC3E}">
        <p14:creationId xmlns:p14="http://schemas.microsoft.com/office/powerpoint/2010/main" val="1767150927"/>
      </p:ext>
    </p:extLst>
  </p:cSld>
  <p:clrMapOvr>
    <a:masterClrMapping/>
  </p:clrMapOvr>
  <mc:AlternateContent xmlns:mc="http://schemas.openxmlformats.org/markup-compatibility/2006" xmlns:p14="http://schemas.microsoft.com/office/powerpoint/2010/main">
    <mc:Choice Requires="p14">
      <p:transition spd="slow" p14:dur="2000" advTm="9565"/>
    </mc:Choice>
    <mc:Fallback xmlns="">
      <p:transition spd="slow" advTm="9565"/>
    </mc:Fallback>
  </mc:AlternateContent>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TotalTime>196</TotalTime>
  <Words>1055</Words>
  <Application>Microsoft Office PowerPoint</Application>
  <PresentationFormat>Widescreen</PresentationFormat>
  <Paragraphs>72</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Gill Sans MT</vt:lpstr>
      <vt:lpstr>quote-cjk-patch</vt:lpstr>
      <vt:lpstr>Symbol</vt:lpstr>
      <vt:lpstr>Parcel</vt:lpstr>
      <vt:lpstr>Sentiment analysis of customer feedback and strategic recommendations</vt:lpstr>
      <vt:lpstr>Project Overview</vt:lpstr>
      <vt:lpstr>Analysis of Overall Sales</vt:lpstr>
      <vt:lpstr>Analysis of Feature Flavors</vt:lpstr>
      <vt:lpstr>Top Performing Locations</vt:lpstr>
      <vt:lpstr>Strategic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Shahriar Shams</dc:creator>
  <cp:lastModifiedBy>Shams, Md Munem Shariar</cp:lastModifiedBy>
  <cp:revision>5</cp:revision>
  <dcterms:created xsi:type="dcterms:W3CDTF">2025-11-01T20:33:23Z</dcterms:created>
  <dcterms:modified xsi:type="dcterms:W3CDTF">2026-02-21T13:18:55Z</dcterms:modified>
</cp:coreProperties>
</file>